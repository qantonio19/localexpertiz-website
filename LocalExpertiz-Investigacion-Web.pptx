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2C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A8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A8EE6"/>
                </a:solidFill>
                <a:latin typeface="Poppins"/>
              </a:rPr>
              <a:t>LOCALEXPERTIZ  ·  USA + MX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4241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Poppins"/>
              </a:rPr>
              <a:t>Mercado de Construcción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22C468"/>
                </a:solidFill>
                <a:latin typeface="Poppins"/>
              </a:rPr>
              <a:t>de Páginas 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77639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C8DEF0"/>
                </a:solidFill>
                <a:latin typeface="Open Sans"/>
              </a:rPr>
              <a:t>Investigación de precios (MX + USA) · Quién ofrece qué y a cuánto · Modelos de cobro · Propuesta de los 3 paquetes con precios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97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8FA8C0"/>
                </a:solidFill>
                <a:latin typeface="Open Sans"/>
              </a:rPr>
              <a:t>Reporte de investigación · Junio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457200" cy="109728"/>
          </a:xfrm>
          <a:prstGeom prst="rect">
            <a:avLst/>
          </a:prstGeom>
          <a:solidFill>
            <a:srgbClr val="22C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43891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A8EE6"/>
                </a:solidFill>
                <a:latin typeface="Poppins"/>
              </a:rPr>
              <a:t>ENCUADRE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C1E35"/>
                </a:solidFill>
                <a:latin typeface="Poppins"/>
              </a:rPr>
              <a:t>Objetivo y alcance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22C468"/>
                </a:solidFill>
                <a:latin typeface="Poppins"/>
              </a:rPr>
              <a:t>›  </a:t>
            </a:r>
            <a:r>
              <a:rPr sz="1700" b="1">
                <a:solidFill>
                  <a:srgbClr val="0C1E35"/>
                </a:solidFill>
                <a:latin typeface="Poppins"/>
              </a:rPr>
              <a:t>El servicio a vender es la CONSTRUCCIÓN DE PÁGINAS WEB.  </a:t>
            </a:r>
            <a:r>
              <a:rPr sz="1700">
                <a:solidFill>
                  <a:srgbClr val="4B6480"/>
                </a:solidFill>
                <a:latin typeface="Open Sans"/>
              </a:rPr>
              <a:t>Toda la investigación se centra en ese mercado (no en redes sociales).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22C468"/>
                </a:solidFill>
                <a:latin typeface="Poppins"/>
              </a:rPr>
              <a:t>›  </a:t>
            </a:r>
            <a:r>
              <a:rPr sz="1700" b="1">
                <a:solidFill>
                  <a:srgbClr val="0C1E35"/>
                </a:solidFill>
                <a:latin typeface="Poppins"/>
              </a:rPr>
              <a:t>Se investigan los 3 niveles de servicio  </a:t>
            </a:r>
            <a:r>
              <a:rPr sz="1700">
                <a:solidFill>
                  <a:srgbClr val="4B6480"/>
                </a:solidFill>
                <a:latin typeface="Open Sans"/>
              </a:rPr>
              <a:t>que definimos, con precios reales en México y Estados Unidos.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22C468"/>
                </a:solidFill>
                <a:latin typeface="Poppins"/>
              </a:rPr>
              <a:t>›  </a:t>
            </a:r>
            <a:r>
              <a:rPr sz="1700" b="1">
                <a:solidFill>
                  <a:srgbClr val="0C1E35"/>
                </a:solidFill>
                <a:latin typeface="Poppins"/>
              </a:rPr>
              <a:t>Entregable:  </a:t>
            </a:r>
            <a:r>
              <a:rPr sz="1700">
                <a:solidFill>
                  <a:srgbClr val="4B6480"/>
                </a:solidFill>
                <a:latin typeface="Open Sans"/>
              </a:rPr>
              <a:t>quién ofrece cada nivel y a cuánto, qué incluye, modelos de cobro y una propuesta de 3 paquetes con precios definidos.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572000"/>
            <a:ext cx="10972800" cy="1371600"/>
          </a:xfrm>
          <a:prstGeom prst="rect">
            <a:avLst/>
          </a:prstGeom>
          <a:solidFill>
            <a:srgbClr val="EF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709160"/>
            <a:ext cx="106070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C1E35"/>
                </a:solidFill>
                <a:latin typeface="Poppins"/>
              </a:rPr>
              <a:t>Nota de método: 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4B6480"/>
                </a:solidFill>
                <a:latin typeface="Open Sans"/>
              </a:rPr>
              <a:t>investigación basada en &gt;25 fuentes de mercado (agencias, builders, comparativas y páginas de precios reales) de MX y USA. Las fuentes se listan al final.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457200" cy="109728"/>
          </a:xfrm>
          <a:prstGeom prst="rect">
            <a:avLst/>
          </a:prstGeom>
          <a:solidFill>
            <a:srgbClr val="22C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43891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A8EE6"/>
                </a:solidFill>
                <a:latin typeface="Poppins"/>
              </a:rPr>
              <a:t>QUÉ VAMOS A VENDER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Poppins"/>
              </a:rPr>
              <a:t>Los 3 niveles de servicio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3383280" cy="457200"/>
          </a:xfrm>
          <a:prstGeom prst="rect">
            <a:avLst/>
          </a:prstGeom>
          <a:solidFill>
            <a:srgbClr val="1A8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3383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Poppins"/>
              </a:rPr>
              <a:t>NIVEL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33832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FFFFFF"/>
                </a:solidFill>
                <a:latin typeface="Poppins"/>
              </a:rPr>
              <a:t>Web llave en mano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C8DEF0"/>
                </a:solidFill>
                <a:latin typeface="Open Sans"/>
              </a:rPr>
              <a:t>Construir el sitio y entregarlo. Pago único, sin cuota recurrente.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691640"/>
            <a:ext cx="3383280" cy="457200"/>
          </a:xfrm>
          <a:prstGeom prst="rect">
            <a:avLst/>
          </a:prstGeom>
          <a:solidFill>
            <a:srgbClr val="22C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691640"/>
            <a:ext cx="3383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Poppins"/>
              </a:rPr>
              <a:t>NIVEL 2  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286000"/>
            <a:ext cx="33832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FFFFFF"/>
                </a:solidFill>
                <a:latin typeface="Poppins"/>
              </a:rPr>
              <a:t>Web + soporte mensual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C8DEF0"/>
                </a:solidFill>
                <a:latin typeface="Open Sans"/>
              </a:rPr>
              <a:t>Construcción + mantenimiento, seguridad, cambios y soporte recurrente.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691640"/>
            <a:ext cx="3383280" cy="457200"/>
          </a:xfrm>
          <a:prstGeom prst="rect">
            <a:avLst/>
          </a:prstGeom>
          <a:solidFill>
            <a:srgbClr val="1A8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691640"/>
            <a:ext cx="3383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Poppins"/>
              </a:rPr>
              <a:t>NIVEL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286000"/>
            <a:ext cx="33832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FFFFFF"/>
                </a:solidFill>
                <a:latin typeface="Poppins"/>
              </a:rPr>
              <a:t>Web con CMS editable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C8DEF0"/>
                </a:solidFill>
                <a:latin typeface="Open Sans"/>
              </a:rPr>
              <a:t>Sitio drag-and-drop autoadministrable: el cliente edita su web él mismo.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1206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C34D"/>
                </a:solidFill>
                <a:latin typeface="Open Sans"/>
              </a:rPr>
              <a:t>En las siguientes diapositivas: benchmark de precios y proveedores de cada nivel.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457200" cy="109728"/>
          </a:xfrm>
          <a:prstGeom prst="rect">
            <a:avLst/>
          </a:prstGeom>
          <a:solidFill>
            <a:srgbClr val="22C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43891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A8EE6"/>
                </a:solidFill>
                <a:latin typeface="Poppins"/>
              </a:rPr>
              <a:t>BENCHMARK USD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C1E35"/>
                </a:solidFill>
                <a:latin typeface="Poppins"/>
              </a:rPr>
              <a:t>Nivel 1 · Pago único — Estados Unidos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109960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23360"/>
                <a:gridCol w="3200400"/>
                <a:gridCol w="388620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oppins"/>
                        </a:rPr>
                        <a:t>Proveedor / segmento</a:t>
                      </a:r>
                    </a:p>
                  </a:txBody>
                  <a:tcPr marL="82296" marR="64008" marT="18288" marB="18288" anchor="ctr">
                    <a:solidFill>
                      <a:srgbClr val="0C1E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oppins"/>
                        </a:rPr>
                        <a:t>Precio (pago único)</a:t>
                      </a:r>
                    </a:p>
                  </a:txBody>
                  <a:tcPr marL="82296" marR="64008" marT="18288" marB="18288" anchor="ctr">
                    <a:solidFill>
                      <a:srgbClr val="0C1E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oppins"/>
                        </a:rPr>
                        <a:t>Notas</a:t>
                      </a:r>
                    </a:p>
                  </a:txBody>
                  <a:tcPr marL="82296" marR="64008" marT="18288" marB="18288" anchor="ctr">
                    <a:solidFill>
                      <a:srgbClr val="0C1E3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Sitio PyME 5 páginas (promedio)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$3,000 – $5,000  (≈ $4,500)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Diseño responsive, SEO básico, CMS, hasta 10 págs.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Freelancer</a:t>
                      </a:r>
                    </a:p>
                  </a:txBody>
                  <a:tcPr marL="82296" marR="64008" marT="18288" marB="18288" anchor="ctr">
                    <a:solidFill>
                      <a:srgbClr val="EF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$1,500 – $8,000</a:t>
                      </a:r>
                    </a:p>
                  </a:txBody>
                  <a:tcPr marL="82296" marR="64008" marT="18288" marB="18288" anchor="ctr">
                    <a:solidFill>
                      <a:srgbClr val="EF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$50 – $150 / hora</a:t>
                      </a:r>
                    </a:p>
                  </a:txBody>
                  <a:tcPr marL="82296" marR="64008" marT="18288" marB="18288" anchor="ctr">
                    <a:solidFill>
                      <a:srgbClr val="EFF6FD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Agencia (PyME)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$5,000 – $30,000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Sube con integraciones y contenido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Agencia US (sitio a medida)</a:t>
                      </a:r>
                    </a:p>
                  </a:txBody>
                  <a:tcPr marL="82296" marR="64008" marT="18288" marB="18288" anchor="ctr">
                    <a:solidFill>
                      <a:srgbClr val="EF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$12,000 – $45,000</a:t>
                      </a:r>
                    </a:p>
                  </a:txBody>
                  <a:tcPr marL="82296" marR="64008" marT="18288" marB="18288" anchor="ctr">
                    <a:solidFill>
                      <a:srgbClr val="EF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Marca, design system, migración</a:t>
                      </a:r>
                    </a:p>
                  </a:txBody>
                  <a:tcPr marL="82296" marR="64008" marT="18288" marB="18288" anchor="ctr">
                    <a:solidFill>
                      <a:srgbClr val="EFF6FD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Tarifa por hora (agencia US)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$100 – $200 / hora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Modelo por hora cuando el alcance es incierto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382512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4B6480"/>
                </a:solidFill>
                <a:latin typeface="Open Sans"/>
              </a:rPr>
              <a:t>Fuentes: webfx.com, digitalpresent.io, markbrinker.com, northwestregisteredagent.com, bookipi.com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457200" cy="109728"/>
          </a:xfrm>
          <a:prstGeom prst="rect">
            <a:avLst/>
          </a:prstGeom>
          <a:solidFill>
            <a:srgbClr val="22C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43891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A8EE6"/>
                </a:solidFill>
                <a:latin typeface="Poppins"/>
              </a:rPr>
              <a:t>BENCHMARK MXN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C1E35"/>
                </a:solidFill>
                <a:latin typeface="Poppins"/>
              </a:rPr>
              <a:t>Nivel 1 · Pago único — México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109959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0"/>
                <a:gridCol w="3291840"/>
                <a:gridCol w="3977639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oppins"/>
                        </a:rPr>
                        <a:t>Tipo de sitio</a:t>
                      </a:r>
                    </a:p>
                  </a:txBody>
                  <a:tcPr marL="82296" marR="64008" marT="18288" marB="18288" anchor="ctr">
                    <a:solidFill>
                      <a:srgbClr val="0C1E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oppins"/>
                        </a:rPr>
                        <a:t>Precio (pago único MXN)</a:t>
                      </a:r>
                    </a:p>
                  </a:txBody>
                  <a:tcPr marL="82296" marR="64008" marT="18288" marB="18288" anchor="ctr">
                    <a:solidFill>
                      <a:srgbClr val="0C1E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oppins"/>
                        </a:rPr>
                        <a:t>Notas</a:t>
                      </a:r>
                    </a:p>
                  </a:txBody>
                  <a:tcPr marL="82296" marR="64008" marT="18288" marB="18288" anchor="ctr">
                    <a:solidFill>
                      <a:srgbClr val="0C1E3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Landing page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$10,000 – $18,000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Plantilla, 3–5 secciones, formulario, responsive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Sitio corporativo / PyME</a:t>
                      </a:r>
                    </a:p>
                  </a:txBody>
                  <a:tcPr marL="82296" marR="64008" marT="18288" marB="18288" anchor="ctr">
                    <a:solidFill>
                      <a:srgbClr val="EF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$18,000 – $25,000</a:t>
                      </a:r>
                    </a:p>
                  </a:txBody>
                  <a:tcPr marL="82296" marR="64008" marT="18288" marB="18288" anchor="ctr">
                    <a:solidFill>
                      <a:srgbClr val="EF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5–10 páginas, blog, SEO básico</a:t>
                      </a:r>
                    </a:p>
                  </a:txBody>
                  <a:tcPr marL="82296" marR="64008" marT="18288" marB="18288" anchor="ctr">
                    <a:solidFill>
                      <a:srgbClr val="EFF6FD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E-commerce (WooCommerce)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$25,000 – $50,000+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Tienda, productos iniciales, pasarelas MX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Diseño a medida UX/UI</a:t>
                      </a:r>
                    </a:p>
                  </a:txBody>
                  <a:tcPr marL="82296" marR="64008" marT="18288" marB="18288" anchor="ctr">
                    <a:solidFill>
                      <a:srgbClr val="EF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desde $30,000</a:t>
                      </a:r>
                    </a:p>
                  </a:txBody>
                  <a:tcPr marL="82296" marR="64008" marT="18288" marB="18288" anchor="ctr">
                    <a:solidFill>
                      <a:srgbClr val="EF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Sitio personalizado de alto nivel</a:t>
                      </a:r>
                    </a:p>
                  </a:txBody>
                  <a:tcPr marL="82296" marR="64008" marT="18288" marB="18288" anchor="ctr">
                    <a:solidFill>
                      <a:srgbClr val="EFF6FD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Tarifa frontend por hora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$500 – $2,000 / hora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Según complejidad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382512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4B6480"/>
                </a:solidFill>
                <a:latin typeface="Open Sans"/>
              </a:rPr>
              <a:t>Fuentes: mexicowordpress.com, disenador-web-mexico.com, bigredes.com, magokoro.mx, listoweb.com.mx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457200" cy="109728"/>
          </a:xfrm>
          <a:prstGeom prst="rect">
            <a:avLst/>
          </a:prstGeom>
          <a:solidFill>
            <a:srgbClr val="22C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43891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A8EE6"/>
                </a:solidFill>
                <a:latin typeface="Poppins"/>
              </a:rPr>
              <a:t>MANTENIMIENTO / CARE PLANS (USA)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C1E35"/>
                </a:solidFill>
                <a:latin typeface="Poppins"/>
              </a:rPr>
              <a:t>Nivel 2 · Web + soporte mensual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0C1E35"/>
                </a:solidFill>
                <a:latin typeface="Poppins"/>
              </a:rPr>
              <a:t>Incluye típicamente: 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4B6480"/>
                </a:solidFill>
                <a:latin typeface="Open Sans"/>
              </a:rPr>
              <a:t>hosting, actualizaciones, seguridad, backups, monitoreo de uptime, horas de cambios/contenido y soporte.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057400"/>
          <a:ext cx="1110996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0"/>
                <a:gridCol w="2468880"/>
                <a:gridCol w="4069080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oppins"/>
                        </a:rPr>
                        <a:t>Proveedor (USA)</a:t>
                      </a:r>
                    </a:p>
                  </a:txBody>
                  <a:tcPr marL="82296" marR="64008" marT="18288" marB="18288" anchor="ctr">
                    <a:solidFill>
                      <a:srgbClr val="0C1E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oppins"/>
                        </a:rPr>
                        <a:t>Precio / mes</a:t>
                      </a:r>
                    </a:p>
                  </a:txBody>
                  <a:tcPr marL="82296" marR="64008" marT="18288" marB="18288" anchor="ctr">
                    <a:solidFill>
                      <a:srgbClr val="0C1E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oppins"/>
                        </a:rPr>
                        <a:t>Incluye</a:t>
                      </a:r>
                    </a:p>
                  </a:txBody>
                  <a:tcPr marL="82296" marR="64008" marT="18288" marB="18288" anchor="ctr">
                    <a:solidFill>
                      <a:srgbClr val="0C1E35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WebyKing — Startup / Growth / Enterprise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$129 / $349 / $899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Backups, seguridad, 5–25 h soporte, tareas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Integral Web Designs (pay-monthly, sin anticipo)</a:t>
                      </a:r>
                    </a:p>
                  </a:txBody>
                  <a:tcPr marL="82296" marR="64008" marT="18288" marB="18288" anchor="ctr">
                    <a:solidFill>
                      <a:srgbClr val="EF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$78 / $104 / $198</a:t>
                      </a:r>
                    </a:p>
                  </a:txBody>
                  <a:tcPr marL="82296" marR="64008" marT="18288" marB="18288" anchor="ctr">
                    <a:solidFill>
                      <a:srgbClr val="EF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Sitio + hosting + dominio + updates + SSL</a:t>
                      </a:r>
                    </a:p>
                  </a:txBody>
                  <a:tcPr marL="82296" marR="64008" marT="18288" marB="18288" anchor="ctr">
                    <a:solidFill>
                      <a:srgbClr val="EFF6FD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Rango general PyME (care plan)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$75 – $300 / mes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Lo común; básico $50, premium hasta $500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382512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4B6480"/>
                </a:solidFill>
                <a:latin typeface="Open Sans"/>
              </a:rPr>
              <a:t>Fuentes: webyking.com, integralwebdesigns.com, webstacks.com, onthemap.com, jim.com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457200" cy="109728"/>
          </a:xfrm>
          <a:prstGeom prst="rect">
            <a:avLst/>
          </a:prstGeom>
          <a:solidFill>
            <a:srgbClr val="22C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43891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A8EE6"/>
                </a:solidFill>
                <a:latin typeface="Poppins"/>
              </a:rPr>
              <a:t>MANTENIMIENTO (MÉXICO)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C1E35"/>
                </a:solidFill>
                <a:latin typeface="Poppins"/>
              </a:rPr>
              <a:t>Nivel 2 · Web + soporte mensual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109960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920"/>
                <a:gridCol w="3108960"/>
                <a:gridCol w="406908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oppins"/>
                        </a:rPr>
                        <a:t>Nivel de mantenimiento</a:t>
                      </a:r>
                    </a:p>
                  </a:txBody>
                  <a:tcPr marL="82296" marR="64008" marT="18288" marB="18288" anchor="ctr">
                    <a:solidFill>
                      <a:srgbClr val="0C1E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oppins"/>
                        </a:rPr>
                        <a:t>Precio / mes (MXN)</a:t>
                      </a:r>
                    </a:p>
                  </a:txBody>
                  <a:tcPr marL="82296" marR="64008" marT="18288" marB="18288" anchor="ctr">
                    <a:solidFill>
                      <a:srgbClr val="0C1E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oppins"/>
                        </a:rPr>
                        <a:t>Incluye</a:t>
                      </a:r>
                    </a:p>
                  </a:txBody>
                  <a:tcPr marL="82296" marR="64008" marT="18288" marB="18288" anchor="ctr">
                    <a:solidFill>
                      <a:srgbClr val="0C1E3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Básico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$2,500 – $8,000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Actualizaciones, backups, seguridad, hosting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Avanzado</a:t>
                      </a:r>
                    </a:p>
                  </a:txBody>
                  <a:tcPr marL="82296" marR="64008" marT="18288" marB="18288" anchor="ctr">
                    <a:solidFill>
                      <a:srgbClr val="EF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$10,000 – $35,000</a:t>
                      </a:r>
                    </a:p>
                  </a:txBody>
                  <a:tcPr marL="82296" marR="64008" marT="18288" marB="18288" anchor="ctr">
                    <a:solidFill>
                      <a:srgbClr val="EF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Soporte, monitoreo 24/7, optimización</a:t>
                      </a:r>
                    </a:p>
                  </a:txBody>
                  <a:tcPr marL="82296" marR="64008" marT="18288" marB="18288" anchor="ctr">
                    <a:solidFill>
                      <a:srgbClr val="EFF6F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Rango más común (PyME)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$1,000 – $5,000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Lo habitual para sitios de negocio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Hosting (referencia)</a:t>
                      </a:r>
                    </a:p>
                  </a:txBody>
                  <a:tcPr marL="82296" marR="64008" marT="18288" marB="18288" anchor="ctr">
                    <a:solidFill>
                      <a:srgbClr val="EF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desde ~$100 / mes</a:t>
                      </a:r>
                    </a:p>
                  </a:txBody>
                  <a:tcPr marL="82296" marR="64008" marT="18288" marB="18288" anchor="ctr">
                    <a:solidFill>
                      <a:srgbClr val="EF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Costo base de servidor</a:t>
                      </a:r>
                    </a:p>
                  </a:txBody>
                  <a:tcPr marL="82296" marR="64008" marT="18288" marB="18288" anchor="ctr">
                    <a:solidFill>
                      <a:srgbClr val="EFF6FD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382512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4B6480"/>
                </a:solidFill>
                <a:latin typeface="Open Sans"/>
              </a:rPr>
              <a:t>Fuentes: nerade.com, magokoro.mx, cronoshare.com.mx, godaddy.com, mexicowordpress.com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457200" cy="109728"/>
          </a:xfrm>
          <a:prstGeom prst="rect">
            <a:avLst/>
          </a:prstGeom>
          <a:solidFill>
            <a:srgbClr val="22C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43891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A8EE6"/>
                </a:solidFill>
                <a:latin typeface="Poppins"/>
              </a:rPr>
              <a:t>PLATAFORMAS / BUILDERS — USD/MES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C1E35"/>
                </a:solidFill>
                <a:latin typeface="Poppins"/>
              </a:rPr>
              <a:t>Nivel 3 · CMS editable (drag-and-drop)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109960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3108960"/>
                <a:gridCol w="470916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oppins"/>
                        </a:rPr>
                        <a:t>Plataforma</a:t>
                      </a:r>
                    </a:p>
                  </a:txBody>
                  <a:tcPr marL="82296" marR="64008" marT="18288" marB="18288" anchor="ctr">
                    <a:solidFill>
                      <a:srgbClr val="0C1E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oppins"/>
                        </a:rPr>
                        <a:t>Precio / mes</a:t>
                      </a:r>
                    </a:p>
                  </a:txBody>
                  <a:tcPr marL="82296" marR="64008" marT="18288" marB="18288" anchor="ctr">
                    <a:solidFill>
                      <a:srgbClr val="0C1E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oppins"/>
                        </a:rPr>
                        <a:t>Para qué sirve / nota</a:t>
                      </a:r>
                    </a:p>
                  </a:txBody>
                  <a:tcPr marL="82296" marR="64008" marT="18288" marB="18288" anchor="ctr">
                    <a:solidFill>
                      <a:srgbClr val="0C1E3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Framer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$5 – $10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Diseño moderno no-code, fácil de editar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Wix</a:t>
                      </a:r>
                    </a:p>
                  </a:txBody>
                  <a:tcPr marL="82296" marR="64008" marT="18288" marB="18288" anchor="ctr">
                    <a:solidFill>
                      <a:srgbClr val="EF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desde ~$17</a:t>
                      </a:r>
                    </a:p>
                  </a:txBody>
                  <a:tcPr marL="82296" marR="64008" marT="18288" marB="18288" anchor="ctr">
                    <a:solidFill>
                      <a:srgbClr val="EF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El más amigable para principiantes</a:t>
                      </a:r>
                    </a:p>
                  </a:txBody>
                  <a:tcPr marL="82296" marR="64008" marT="18288" marB="18288" anchor="ctr">
                    <a:solidFill>
                      <a:srgbClr val="EFF6FD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Squarespace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$16 / $23 / $39 / $99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Plantillas + editor Fluid Engine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Webflow</a:t>
                      </a:r>
                    </a:p>
                  </a:txBody>
                  <a:tcPr marL="82296" marR="64008" marT="18288" marB="18288" anchor="ctr">
                    <a:solidFill>
                      <a:srgbClr val="EF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$15 (Basic) / $25 (CMS)</a:t>
                      </a:r>
                    </a:p>
                  </a:txBody>
                  <a:tcPr marL="82296" marR="64008" marT="18288" marB="18288" anchor="ctr">
                    <a:solidFill>
                      <a:srgbClr val="EF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Máximo control de diseño + CMS visual</a:t>
                      </a:r>
                    </a:p>
                  </a:txBody>
                  <a:tcPr marL="82296" marR="64008" marT="18288" marB="18288" anchor="ctr">
                    <a:solidFill>
                      <a:srgbClr val="EFF6FD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Webflow E-commerce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$29 / $74 / $212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Tienda con CMS visual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382512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4B6480"/>
                </a:solidFill>
                <a:latin typeface="Open Sans"/>
              </a:rPr>
              <a:t>El cliente edita su contenido; la cuota de plataforma corre aparte o gestionada. Fuentes: webflow.com, squarespace.com, wix.com, comparetiers.com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457200" cy="109728"/>
          </a:xfrm>
          <a:prstGeom prst="rect">
            <a:avLst/>
          </a:prstGeom>
          <a:solidFill>
            <a:srgbClr val="22C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43891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A8EE6"/>
                </a:solidFill>
                <a:latin typeface="Poppins"/>
              </a:rPr>
              <a:t>AGENCIAS (MX + USA)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C1E35"/>
                </a:solidFill>
                <a:latin typeface="Poppins"/>
              </a:rPr>
              <a:t>Nivel 3 · Quién entrega webs autoadministrables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109960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1188720"/>
                <a:gridCol w="3108960"/>
                <a:gridCol w="406908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oppins"/>
                        </a:rPr>
                        <a:t>Proveedor</a:t>
                      </a:r>
                    </a:p>
                  </a:txBody>
                  <a:tcPr marL="82296" marR="64008" marT="18288" marB="18288" anchor="ctr">
                    <a:solidFill>
                      <a:srgbClr val="0C1E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oppins"/>
                        </a:rPr>
                        <a:t>Mercado</a:t>
                      </a:r>
                    </a:p>
                  </a:txBody>
                  <a:tcPr marL="82296" marR="64008" marT="18288" marB="18288" anchor="ctr">
                    <a:solidFill>
                      <a:srgbClr val="0C1E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oppins"/>
                        </a:rPr>
                        <a:t>Precio</a:t>
                      </a:r>
                    </a:p>
                  </a:txBody>
                  <a:tcPr marL="82296" marR="64008" marT="18288" marB="18288" anchor="ctr">
                    <a:solidFill>
                      <a:srgbClr val="0C1E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oppins"/>
                        </a:rPr>
                        <a:t>Nota</a:t>
                      </a:r>
                    </a:p>
                  </a:txBody>
                  <a:tcPr marL="82296" marR="64008" marT="18288" marB="18288" anchor="ctr">
                    <a:solidFill>
                      <a:srgbClr val="0C1E3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Ve mi Página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MX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desde $4,999 MXN (pago único)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WordPress autoadministrable + hosting/dominio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Mexico WordPress</a:t>
                      </a:r>
                    </a:p>
                  </a:txBody>
                  <a:tcPr marL="82296" marR="64008" marT="18288" marB="18288" anchor="ctr">
                    <a:solidFill>
                      <a:srgbClr val="EF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MX</a:t>
                      </a:r>
                    </a:p>
                  </a:txBody>
                  <a:tcPr marL="82296" marR="64008" marT="18288" marB="18288" anchor="ctr">
                    <a:solidFill>
                      <a:srgbClr val="EF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$10,000 – $50,000 MXN</a:t>
                      </a:r>
                    </a:p>
                  </a:txBody>
                  <a:tcPr marL="82296" marR="64008" marT="18288" marB="18288" anchor="ctr">
                    <a:solidFill>
                      <a:srgbClr val="EF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WP + Elementor 100% autoeditable</a:t>
                      </a:r>
                    </a:p>
                  </a:txBody>
                  <a:tcPr marL="82296" marR="64008" marT="18288" marB="18288" anchor="ctr">
                    <a:solidFill>
                      <a:srgbClr val="EFF6F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Sicom Web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MX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cotización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Panel de administración para editar contenido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Agencias WaaS (USA)</a:t>
                      </a:r>
                    </a:p>
                  </a:txBody>
                  <a:tcPr marL="82296" marR="64008" marT="18288" marB="18288" anchor="ctr">
                    <a:solidFill>
                      <a:srgbClr val="EF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USA</a:t>
                      </a:r>
                    </a:p>
                  </a:txBody>
                  <a:tcPr marL="82296" marR="64008" marT="18288" marB="18288" anchor="ctr">
                    <a:solidFill>
                      <a:srgbClr val="EF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$149 – $5,000 / mes</a:t>
                      </a:r>
                    </a:p>
                  </a:txBody>
                  <a:tcPr marL="82296" marR="64008" marT="18288" marB="18288" anchor="ctr">
                    <a:solidFill>
                      <a:srgbClr val="EF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Suscripción: construyen y editas/solicitas</a:t>
                      </a:r>
                    </a:p>
                  </a:txBody>
                  <a:tcPr marL="82296" marR="64008" marT="18288" marB="18288" anchor="ctr">
                    <a:solidFill>
                      <a:srgbClr val="EFF6FD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382512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4B6480"/>
                </a:solidFill>
                <a:latin typeface="Open Sans"/>
              </a:rPr>
              <a:t>Fuentes: vemipagina.com, mexicowordpress.com, sicomweb.com.mx, rubik.design, penji.co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457200" cy="109728"/>
          </a:xfrm>
          <a:prstGeom prst="rect">
            <a:avLst/>
          </a:prstGeom>
          <a:solidFill>
            <a:srgbClr val="22C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43891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A8EE6"/>
                </a:solidFill>
                <a:latin typeface="Poppins"/>
              </a:rPr>
              <a:t>CÓMO COBRA EL MERCADO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Poppins"/>
              </a:rPr>
              <a:t>Modelos de cobro en desarrollo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22C468"/>
                </a:solidFill>
                <a:latin typeface="Poppins"/>
              </a:rPr>
              <a:t>›  </a:t>
            </a:r>
            <a:r>
              <a:rPr sz="1600" b="1">
                <a:solidFill>
                  <a:srgbClr val="FFFFFF"/>
                </a:solidFill>
                <a:latin typeface="Poppins"/>
              </a:rPr>
              <a:t>Paquete / precio fijo (dominante, 82%):  </a:t>
            </a:r>
            <a:r>
              <a:rPr sz="1600">
                <a:solidFill>
                  <a:srgbClr val="C8DEF0"/>
                </a:solidFill>
                <a:latin typeface="Open Sans"/>
              </a:rPr>
              <a:t>alcance cerrado y precio único — ideal para Nivel 1 y 3.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2C468"/>
                </a:solidFill>
                <a:latin typeface="Poppins"/>
              </a:rPr>
              <a:t>›  </a:t>
            </a:r>
            <a:r>
              <a:rPr sz="1600" b="1">
                <a:solidFill>
                  <a:srgbClr val="FFFFFF"/>
                </a:solidFill>
                <a:latin typeface="Poppins"/>
              </a:rPr>
              <a:t>Suscripción / retainer:  </a:t>
            </a:r>
            <a:r>
              <a:rPr sz="1600">
                <a:solidFill>
                  <a:srgbClr val="C8DEF0"/>
                </a:solidFill>
                <a:latin typeface="Open Sans"/>
              </a:rPr>
              <a:t>cuota mensual recurrente — base del Nivel 2 (soporte) y del modelo WaaS.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2C468"/>
                </a:solidFill>
                <a:latin typeface="Poppins"/>
              </a:rPr>
              <a:t>›  </a:t>
            </a:r>
            <a:r>
              <a:rPr sz="1600" b="1">
                <a:solidFill>
                  <a:srgbClr val="FFFFFF"/>
                </a:solidFill>
                <a:latin typeface="Poppins"/>
              </a:rPr>
              <a:t>Por hora:  </a:t>
            </a:r>
            <a:r>
              <a:rPr sz="1600">
                <a:solidFill>
                  <a:srgbClr val="C8DEF0"/>
                </a:solidFill>
                <a:latin typeface="Open Sans"/>
              </a:rPr>
              <a:t>$100–$200 USD/h (USA) · $500–$2,000 MXN/h (MX) — para alcance incierto o extras.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2C468"/>
                </a:solidFill>
                <a:latin typeface="Poppins"/>
              </a:rPr>
              <a:t>›  </a:t>
            </a:r>
            <a:r>
              <a:rPr sz="1600" b="1">
                <a:solidFill>
                  <a:srgbClr val="FFFFFF"/>
                </a:solidFill>
                <a:latin typeface="Poppins"/>
              </a:rPr>
              <a:t>Pago mensual sin anticipo (pay-monthly / WaaS):  </a:t>
            </a:r>
            <a:r>
              <a:rPr sz="1600">
                <a:solidFill>
                  <a:srgbClr val="C8DEF0"/>
                </a:solidFill>
                <a:latin typeface="Open Sans"/>
              </a:rPr>
              <a:t>$0 inicial + cuota — baja la barrera de entrada.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2C468"/>
                </a:solidFill>
                <a:latin typeface="Poppins"/>
              </a:rPr>
              <a:t>›  </a:t>
            </a:r>
            <a:r>
              <a:rPr sz="1600" b="1">
                <a:solidFill>
                  <a:srgbClr val="FFFFFF"/>
                </a:solidFill>
                <a:latin typeface="Poppins"/>
              </a:rPr>
              <a:t>Value-based:  </a:t>
            </a:r>
            <a:r>
              <a:rPr sz="1600">
                <a:solidFill>
                  <a:srgbClr val="C8DEF0"/>
                </a:solidFill>
                <a:latin typeface="Open Sans"/>
              </a:rPr>
              <a:t>precio según el valor/resultados — lo usan los que más facturan.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457200" cy="109728"/>
          </a:xfrm>
          <a:prstGeom prst="rect">
            <a:avLst/>
          </a:prstGeom>
          <a:solidFill>
            <a:srgbClr val="22C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43891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A8EE6"/>
                </a:solidFill>
                <a:latin typeface="Poppins"/>
              </a:rPr>
              <a:t>PANORAMA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C1E35"/>
                </a:solidFill>
                <a:latin typeface="Poppins"/>
              </a:rPr>
              <a:t>Matriz de competidores (web)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45920"/>
          <a:ext cx="11201400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1097280"/>
                <a:gridCol w="3108960"/>
                <a:gridCol w="2240280"/>
                <a:gridCol w="201168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Competidor</a:t>
                      </a:r>
                    </a:p>
                  </a:txBody>
                  <a:tcPr marL="82296" marR="64008" marT="18288" marB="18288" anchor="ctr">
                    <a:solidFill>
                      <a:srgbClr val="0C1E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Mercado</a:t>
                      </a:r>
                    </a:p>
                  </a:txBody>
                  <a:tcPr marL="82296" marR="64008" marT="18288" marB="18288" anchor="ctr">
                    <a:solidFill>
                      <a:srgbClr val="0C1E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Oferta</a:t>
                      </a:r>
                    </a:p>
                  </a:txBody>
                  <a:tcPr marL="82296" marR="64008" marT="18288" marB="18288" anchor="ctr">
                    <a:solidFill>
                      <a:srgbClr val="0C1E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Precio</a:t>
                      </a:r>
                    </a:p>
                  </a:txBody>
                  <a:tcPr marL="82296" marR="64008" marT="18288" marB="18288" anchor="ctr">
                    <a:solidFill>
                      <a:srgbClr val="0C1E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Modelo</a:t>
                      </a:r>
                    </a:p>
                  </a:txBody>
                  <a:tcPr marL="82296" marR="64008" marT="18288" marB="18288" anchor="ctr">
                    <a:solidFill>
                      <a:srgbClr val="0C1E3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C1E35"/>
                          </a:solidFill>
                          <a:latin typeface="Open Sans"/>
                        </a:rPr>
                        <a:t>Ve mi Página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C1E35"/>
                          </a:solidFill>
                          <a:latin typeface="Open Sans"/>
                        </a:rPr>
                        <a:t>MX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C1E35"/>
                          </a:solidFill>
                          <a:latin typeface="Open Sans"/>
                        </a:rPr>
                        <a:t>Web autoadministrable WP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C1E35"/>
                          </a:solidFill>
                          <a:latin typeface="Open Sans"/>
                        </a:rPr>
                        <a:t>desde $4,999 MXN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C1E35"/>
                          </a:solidFill>
                          <a:latin typeface="Open Sans"/>
                        </a:rPr>
                        <a:t>Pago único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C1E35"/>
                          </a:solidFill>
                          <a:latin typeface="Open Sans"/>
                        </a:rPr>
                        <a:t>Mexico WordPress</a:t>
                      </a:r>
                    </a:p>
                  </a:txBody>
                  <a:tcPr marL="82296" marR="64008" marT="18288" marB="18288" anchor="ctr">
                    <a:solidFill>
                      <a:srgbClr val="EF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C1E35"/>
                          </a:solidFill>
                          <a:latin typeface="Open Sans"/>
                        </a:rPr>
                        <a:t>MX</a:t>
                      </a:r>
                    </a:p>
                  </a:txBody>
                  <a:tcPr marL="82296" marR="64008" marT="18288" marB="18288" anchor="ctr">
                    <a:solidFill>
                      <a:srgbClr val="EF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C1E35"/>
                          </a:solidFill>
                          <a:latin typeface="Open Sans"/>
                        </a:rPr>
                        <a:t>WP a medida autoeditable</a:t>
                      </a:r>
                    </a:p>
                  </a:txBody>
                  <a:tcPr marL="82296" marR="64008" marT="18288" marB="18288" anchor="ctr">
                    <a:solidFill>
                      <a:srgbClr val="EF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C1E35"/>
                          </a:solidFill>
                          <a:latin typeface="Open Sans"/>
                        </a:rPr>
                        <a:t>$10k–$50k MXN</a:t>
                      </a:r>
                    </a:p>
                  </a:txBody>
                  <a:tcPr marL="82296" marR="64008" marT="18288" marB="18288" anchor="ctr">
                    <a:solidFill>
                      <a:srgbClr val="EF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C1E35"/>
                          </a:solidFill>
                          <a:latin typeface="Open Sans"/>
                        </a:rPr>
                        <a:t>Pago único</a:t>
                      </a:r>
                    </a:p>
                  </a:txBody>
                  <a:tcPr marL="82296" marR="64008" marT="18288" marB="18288" anchor="ctr">
                    <a:solidFill>
                      <a:srgbClr val="EFF6F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C1E35"/>
                          </a:solidFill>
                          <a:latin typeface="Open Sans"/>
                        </a:rPr>
                        <a:t>Integral Web Designs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C1E35"/>
                          </a:solidFill>
                          <a:latin typeface="Open Sans"/>
                        </a:rPr>
                        <a:t>USA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C1E35"/>
                          </a:solidFill>
                          <a:latin typeface="Open Sans"/>
                        </a:rPr>
                        <a:t>Web + soporte (sin anticipo)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C1E35"/>
                          </a:solidFill>
                          <a:latin typeface="Open Sans"/>
                        </a:rPr>
                        <a:t>$78–$198 / mes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C1E35"/>
                          </a:solidFill>
                          <a:latin typeface="Open Sans"/>
                        </a:rPr>
                        <a:t>Suscripción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C1E35"/>
                          </a:solidFill>
                          <a:latin typeface="Open Sans"/>
                        </a:rPr>
                        <a:t>WebyKing</a:t>
                      </a:r>
                    </a:p>
                  </a:txBody>
                  <a:tcPr marL="82296" marR="64008" marT="18288" marB="18288" anchor="ctr">
                    <a:solidFill>
                      <a:srgbClr val="EF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C1E35"/>
                          </a:solidFill>
                          <a:latin typeface="Open Sans"/>
                        </a:rPr>
                        <a:t>USA</a:t>
                      </a:r>
                    </a:p>
                  </a:txBody>
                  <a:tcPr marL="82296" marR="64008" marT="18288" marB="18288" anchor="ctr">
                    <a:solidFill>
                      <a:srgbClr val="EF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C1E35"/>
                          </a:solidFill>
                          <a:latin typeface="Open Sans"/>
                        </a:rPr>
                        <a:t>Care plans / mantenimiento</a:t>
                      </a:r>
                    </a:p>
                  </a:txBody>
                  <a:tcPr marL="82296" marR="64008" marT="18288" marB="18288" anchor="ctr">
                    <a:solidFill>
                      <a:srgbClr val="EF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C1E35"/>
                          </a:solidFill>
                          <a:latin typeface="Open Sans"/>
                        </a:rPr>
                        <a:t>$129–$899 / mes</a:t>
                      </a:r>
                    </a:p>
                  </a:txBody>
                  <a:tcPr marL="82296" marR="64008" marT="18288" marB="18288" anchor="ctr">
                    <a:solidFill>
                      <a:srgbClr val="EF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C1E35"/>
                          </a:solidFill>
                          <a:latin typeface="Open Sans"/>
                        </a:rPr>
                        <a:t>Retainer</a:t>
                      </a:r>
                    </a:p>
                  </a:txBody>
                  <a:tcPr marL="82296" marR="64008" marT="18288" marB="18288" anchor="ctr">
                    <a:solidFill>
                      <a:srgbClr val="EFF6F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C1E35"/>
                          </a:solidFill>
                          <a:latin typeface="Open Sans"/>
                        </a:rPr>
                        <a:t>Webflow / Wix / Squarespace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C1E35"/>
                          </a:solidFill>
                          <a:latin typeface="Open Sans"/>
                        </a:rPr>
                        <a:t>Global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C1E35"/>
                          </a:solidFill>
                          <a:latin typeface="Open Sans"/>
                        </a:rPr>
                        <a:t>Builder CMS (DIY)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C1E35"/>
                          </a:solidFill>
                          <a:latin typeface="Open Sans"/>
                        </a:rPr>
                        <a:t>$5–$99 / mes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C1E35"/>
                          </a:solidFill>
                          <a:latin typeface="Open Sans"/>
                        </a:rPr>
                        <a:t>Suscripción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C1E35"/>
                          </a:solidFill>
                          <a:latin typeface="Open Sans"/>
                        </a:rPr>
                        <a:t>Agencias US a medida</a:t>
                      </a:r>
                    </a:p>
                  </a:txBody>
                  <a:tcPr marL="82296" marR="64008" marT="18288" marB="18288" anchor="ctr">
                    <a:solidFill>
                      <a:srgbClr val="EF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C1E35"/>
                          </a:solidFill>
                          <a:latin typeface="Open Sans"/>
                        </a:rPr>
                        <a:t>USA</a:t>
                      </a:r>
                    </a:p>
                  </a:txBody>
                  <a:tcPr marL="82296" marR="64008" marT="18288" marB="18288" anchor="ctr">
                    <a:solidFill>
                      <a:srgbClr val="EF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C1E35"/>
                          </a:solidFill>
                          <a:latin typeface="Open Sans"/>
                        </a:rPr>
                        <a:t>Sitio personalizado</a:t>
                      </a:r>
                    </a:p>
                  </a:txBody>
                  <a:tcPr marL="82296" marR="64008" marT="18288" marB="18288" anchor="ctr">
                    <a:solidFill>
                      <a:srgbClr val="EF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C1E35"/>
                          </a:solidFill>
                          <a:latin typeface="Open Sans"/>
                        </a:rPr>
                        <a:t>$3k–$45k</a:t>
                      </a:r>
                    </a:p>
                  </a:txBody>
                  <a:tcPr marL="82296" marR="64008" marT="18288" marB="18288" anchor="ctr">
                    <a:solidFill>
                      <a:srgbClr val="EF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C1E35"/>
                          </a:solidFill>
                          <a:latin typeface="Open Sans"/>
                        </a:rPr>
                        <a:t>Pago único</a:t>
                      </a:r>
                    </a:p>
                  </a:txBody>
                  <a:tcPr marL="82296" marR="64008" marT="18288" marB="18288" anchor="ctr">
                    <a:solidFill>
                      <a:srgbClr val="EFF6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457200" cy="109728"/>
          </a:xfrm>
          <a:prstGeom prst="rect">
            <a:avLst/>
          </a:prstGeom>
          <a:solidFill>
            <a:srgbClr val="22C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43891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A8EE6"/>
                </a:solidFill>
                <a:latin typeface="Poppins"/>
              </a:rPr>
              <a:t>DÓNDE GANAMOS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C1E35"/>
                </a:solidFill>
                <a:latin typeface="Poppins"/>
              </a:rPr>
              <a:t>Hallazgos y oportunidades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1">
                <a:solidFill>
                  <a:srgbClr val="22C468"/>
                </a:solidFill>
                <a:latin typeface="Poppins"/>
              </a:rPr>
              <a:t>›  </a:t>
            </a:r>
            <a:r>
              <a:rPr sz="1600" b="1">
                <a:solidFill>
                  <a:srgbClr val="0C1E35"/>
                </a:solidFill>
                <a:latin typeface="Poppins"/>
              </a:rPr>
              <a:t>MX es mucho más barato que USA:  </a:t>
            </a:r>
            <a:r>
              <a:rPr sz="1600">
                <a:solidFill>
                  <a:srgbClr val="4B6480"/>
                </a:solidFill>
                <a:latin typeface="Open Sans"/>
              </a:rPr>
              <a:t>mismo trabajo se cobra ~5–10x más en USD → oportunidad de arbitraje bilingüe.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22C468"/>
                </a:solidFill>
                <a:latin typeface="Poppins"/>
              </a:rPr>
              <a:t>›  </a:t>
            </a:r>
            <a:r>
              <a:rPr sz="1600" b="1">
                <a:solidFill>
                  <a:srgbClr val="0C1E35"/>
                </a:solidFill>
                <a:latin typeface="Poppins"/>
              </a:rPr>
              <a:t>Pocos ofrecen los 3 niveles juntos:  </a:t>
            </a:r>
            <a:r>
              <a:rPr sz="1600">
                <a:solidFill>
                  <a:srgbClr val="4B6480"/>
                </a:solidFill>
                <a:latin typeface="Open Sans"/>
              </a:rPr>
              <a:t>empaquetarlos (único / con soporte / autoeditable) nos diferencia.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22C468"/>
                </a:solidFill>
                <a:latin typeface="Poppins"/>
              </a:rPr>
              <a:t>›  </a:t>
            </a:r>
            <a:r>
              <a:rPr sz="1600" b="1">
                <a:solidFill>
                  <a:srgbClr val="0C1E35"/>
                </a:solidFill>
                <a:latin typeface="Poppins"/>
              </a:rPr>
              <a:t>El modelo 'sin anticipo + mensual' está creciendo:  </a:t>
            </a:r>
            <a:r>
              <a:rPr sz="1600">
                <a:solidFill>
                  <a:srgbClr val="4B6480"/>
                </a:solidFill>
                <a:latin typeface="Open Sans"/>
              </a:rPr>
              <a:t>baja la barrera y crea ingreso recurrente.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22C468"/>
                </a:solidFill>
                <a:latin typeface="Poppins"/>
              </a:rPr>
              <a:t>›  </a:t>
            </a:r>
            <a:r>
              <a:rPr sz="1600" b="1">
                <a:solidFill>
                  <a:srgbClr val="0C1E35"/>
                </a:solidFill>
                <a:latin typeface="Poppins"/>
              </a:rPr>
              <a:t>La transparencia de precios es ventaja:  </a:t>
            </a:r>
            <a:r>
              <a:rPr sz="1600">
                <a:solidFill>
                  <a:srgbClr val="4B6480"/>
                </a:solidFill>
                <a:latin typeface="Open Sans"/>
              </a:rPr>
              <a:t>publicar paquetes claros genera confianza y filtra prospectos.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22C468"/>
                </a:solidFill>
                <a:latin typeface="Poppins"/>
              </a:rPr>
              <a:t>›  </a:t>
            </a:r>
            <a:r>
              <a:rPr sz="1600" b="1">
                <a:solidFill>
                  <a:srgbClr val="0C1E35"/>
                </a:solidFill>
                <a:latin typeface="Poppins"/>
              </a:rPr>
              <a:t>El soporte recurrente es el verdadero negocio:  </a:t>
            </a:r>
            <a:r>
              <a:rPr sz="1600">
                <a:solidFill>
                  <a:srgbClr val="4B6480"/>
                </a:solidFill>
                <a:latin typeface="Open Sans"/>
              </a:rPr>
              <a:t>el Nivel 2 da ingresos predecibles mes a mes.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457200" cy="109728"/>
          </a:xfrm>
          <a:prstGeom prst="rect">
            <a:avLst/>
          </a:prstGeom>
          <a:solidFill>
            <a:srgbClr val="22C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43891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A8EE6"/>
                </a:solidFill>
                <a:latin typeface="Poppins"/>
              </a:rPr>
              <a:t>PAGO ÚNICO · LLAVE EN MANO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C1E35"/>
                </a:solidFill>
                <a:latin typeface="Poppins"/>
              </a:rPr>
              <a:t>Propuesta · Paquete 1 — WEB LANZAMIENTO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C1E35"/>
                </a:solidFill>
                <a:latin typeface="Poppins"/>
              </a:rPr>
              <a:t>Para: 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B6480"/>
                </a:solidFill>
                <a:latin typeface="Open Sans"/>
              </a:rPr>
              <a:t>negocios que necesitan una web profesional y autosuficiente, sin cuota recurrente.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6766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50" b="1">
                <a:solidFill>
                  <a:srgbClr val="22C468"/>
                </a:solidFill>
                <a:latin typeface="Poppins"/>
              </a:rPr>
              <a:t>›  </a:t>
            </a:r>
            <a:r>
              <a:rPr sz="1450">
                <a:solidFill>
                  <a:srgbClr val="4B6480"/>
                </a:solidFill>
                <a:latin typeface="Open Sans"/>
              </a:rPr>
              <a:t>Diseño a medida responsive (hasta 6 secciones/páginas).</a:t>
            </a:r>
          </a:p>
          <a:p>
            <a:pPr>
              <a:spcAft>
                <a:spcPts val="900"/>
              </a:spcAft>
            </a:pPr>
            <a:r>
              <a:rPr sz="1450" b="1">
                <a:solidFill>
                  <a:srgbClr val="22C468"/>
                </a:solidFill>
                <a:latin typeface="Poppins"/>
              </a:rPr>
              <a:t>›  </a:t>
            </a:r>
            <a:r>
              <a:rPr sz="1450">
                <a:solidFill>
                  <a:srgbClr val="4B6480"/>
                </a:solidFill>
                <a:latin typeface="Open Sans"/>
              </a:rPr>
              <a:t>SEO on-page básico + formulario + botón de WhatsApp.</a:t>
            </a:r>
          </a:p>
          <a:p>
            <a:pPr>
              <a:spcAft>
                <a:spcPts val="900"/>
              </a:spcAft>
            </a:pPr>
            <a:r>
              <a:rPr sz="1450" b="1">
                <a:solidFill>
                  <a:srgbClr val="22C468"/>
                </a:solidFill>
                <a:latin typeface="Poppins"/>
              </a:rPr>
              <a:t>›  </a:t>
            </a:r>
            <a:r>
              <a:rPr sz="1450">
                <a:solidFill>
                  <a:srgbClr val="4B6480"/>
                </a:solidFill>
                <a:latin typeface="Open Sans"/>
              </a:rPr>
              <a:t>Google Analytics y carga de contenido inicial.</a:t>
            </a:r>
          </a:p>
          <a:p>
            <a:pPr>
              <a:spcAft>
                <a:spcPts val="900"/>
              </a:spcAft>
            </a:pPr>
            <a:r>
              <a:rPr sz="1450" b="1">
                <a:solidFill>
                  <a:srgbClr val="22C468"/>
                </a:solidFill>
                <a:latin typeface="Poppins"/>
              </a:rPr>
              <a:t>›  </a:t>
            </a:r>
            <a:r>
              <a:rPr sz="1450">
                <a:solidFill>
                  <a:srgbClr val="4B6480"/>
                </a:solidFill>
                <a:latin typeface="Open Sans"/>
              </a:rPr>
              <a:t>Dominio + hosting gestionado (1er año) y capacitación básica.</a:t>
            </a:r>
          </a:p>
          <a:p>
            <a:pPr>
              <a:spcAft>
                <a:spcPts val="900"/>
              </a:spcAft>
            </a:pPr>
            <a:r>
              <a:rPr sz="1450" b="1">
                <a:solidFill>
                  <a:srgbClr val="22C468"/>
                </a:solidFill>
                <a:latin typeface="Poppins"/>
              </a:rPr>
              <a:t>›  </a:t>
            </a:r>
            <a:r>
              <a:rPr sz="1450">
                <a:solidFill>
                  <a:srgbClr val="4B6480"/>
                </a:solidFill>
                <a:latin typeface="Open Sans"/>
              </a:rPr>
              <a:t>2 rondas de revisión. Pago 50% anticipo / 50% entrega.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2057400"/>
            <a:ext cx="3886200" cy="3108960"/>
          </a:xfrm>
          <a:prstGeom prst="rect">
            <a:avLst/>
          </a:prstGeom>
          <a:solidFill>
            <a:srgbClr val="EF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2240280"/>
            <a:ext cx="34747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A8EE6"/>
                </a:solidFill>
                <a:latin typeface="Poppins"/>
              </a:rPr>
              <a:t>PRECIO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0C1E35"/>
                </a:solidFill>
                <a:latin typeface="Poppins"/>
              </a:rPr>
              <a:t>México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4B6480"/>
                </a:solidFill>
                <a:latin typeface="Open Sans"/>
              </a:rPr>
              <a:t>desde $18,000 MXN  ($18,000–$26,000)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0C1E35"/>
                </a:solidFill>
                <a:latin typeface="Poppins"/>
              </a:rPr>
              <a:t>Estados Unidos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4B6480"/>
                </a:solidFill>
                <a:latin typeface="Open Sans"/>
              </a:rPr>
              <a:t>desde $2,500 USD  ($2,500–$3,900)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22C468"/>
                </a:solidFill>
                <a:latin typeface="Poppins"/>
              </a:rPr>
              <a:t>Modelo: pago único (50/50)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382512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4B6480"/>
                </a:solidFill>
                <a:latin typeface="Open Sans"/>
              </a:rPr>
              <a:t>Posicionamiento: por encima del freelancer económico, por debajo de la agencia premium. Precio 'todo incluido'.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457200" cy="109728"/>
          </a:xfrm>
          <a:prstGeom prst="rect">
            <a:avLst/>
          </a:prstGeom>
          <a:solidFill>
            <a:srgbClr val="22C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43891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A8EE6"/>
                </a:solidFill>
                <a:latin typeface="Poppins"/>
              </a:rPr>
              <a:t>WEB + SOPORTE MENSUAL (RECOMENDADO)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Poppins"/>
              </a:rPr>
              <a:t>Propuesta · Paquete 2 — WEB + CRECIMIENTO 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Poppins"/>
              </a:rPr>
              <a:t>Para: 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C8DEF0"/>
                </a:solidFill>
                <a:latin typeface="Open Sans"/>
              </a:rPr>
              <a:t>negocios que quieren su web siempre actualizada, segura y con cambios sin preocuparse.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6766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50" b="1">
                <a:solidFill>
                  <a:srgbClr val="22C468"/>
                </a:solidFill>
                <a:latin typeface="Poppins"/>
              </a:rPr>
              <a:t>›  </a:t>
            </a:r>
            <a:r>
              <a:rPr sz="1450">
                <a:solidFill>
                  <a:srgbClr val="C8DEF0"/>
                </a:solidFill>
                <a:latin typeface="Open Sans"/>
              </a:rPr>
              <a:t>Todo lo del Paquete 1, más plan mensual:</a:t>
            </a:r>
          </a:p>
          <a:p>
            <a:pPr>
              <a:spcAft>
                <a:spcPts val="900"/>
              </a:spcAft>
            </a:pPr>
            <a:r>
              <a:rPr sz="1450" b="1">
                <a:solidFill>
                  <a:srgbClr val="22C468"/>
                </a:solidFill>
                <a:latin typeface="Poppins"/>
              </a:rPr>
              <a:t>›  </a:t>
            </a:r>
            <a:r>
              <a:rPr sz="1450">
                <a:solidFill>
                  <a:srgbClr val="C8DEF0"/>
                </a:solidFill>
                <a:latin typeface="Open Sans"/>
              </a:rPr>
              <a:t>Hosting premium, actualizaciones, seguridad y backups.</a:t>
            </a:r>
          </a:p>
          <a:p>
            <a:pPr>
              <a:spcAft>
                <a:spcPts val="900"/>
              </a:spcAft>
            </a:pPr>
            <a:r>
              <a:rPr sz="1450" b="1">
                <a:solidFill>
                  <a:srgbClr val="22C468"/>
                </a:solidFill>
                <a:latin typeface="Poppins"/>
              </a:rPr>
              <a:t>›  </a:t>
            </a:r>
            <a:r>
              <a:rPr sz="1450">
                <a:solidFill>
                  <a:srgbClr val="C8DEF0"/>
                </a:solidFill>
                <a:latin typeface="Open Sans"/>
              </a:rPr>
              <a:t>Monitoreo de uptime + hasta 2 h de cambios/contenido al mes.</a:t>
            </a:r>
          </a:p>
          <a:p>
            <a:pPr>
              <a:spcAft>
                <a:spcPts val="900"/>
              </a:spcAft>
            </a:pPr>
            <a:r>
              <a:rPr sz="1450" b="1">
                <a:solidFill>
                  <a:srgbClr val="22C468"/>
                </a:solidFill>
                <a:latin typeface="Poppins"/>
              </a:rPr>
              <a:t>›  </a:t>
            </a:r>
            <a:r>
              <a:rPr sz="1450">
                <a:solidFill>
                  <a:srgbClr val="C8DEF0"/>
                </a:solidFill>
                <a:latin typeface="Open Sans"/>
              </a:rPr>
              <a:t>Reporte trimestral y soporte prioritario.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2011680"/>
            <a:ext cx="3886200" cy="3657600"/>
          </a:xfrm>
          <a:prstGeom prst="rect">
            <a:avLst/>
          </a:prstGeom>
          <a:solidFill>
            <a:srgbClr val="112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2194560"/>
            <a:ext cx="347472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22C468"/>
                </a:solidFill>
                <a:latin typeface="Poppins"/>
              </a:rPr>
              <a:t>PRECIO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FFFFFF"/>
                </a:solidFill>
                <a:latin typeface="Poppins"/>
              </a:rPr>
              <a:t>Opción A — build + plan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C8DEF0"/>
                </a:solidFill>
                <a:latin typeface="Open Sans"/>
              </a:rPr>
              <a:t>MX: desde $20,000 + $3,000–$4,500/mes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C8DEF0"/>
                </a:solidFill>
                <a:latin typeface="Open Sans"/>
              </a:rPr>
              <a:t>USA: desde $3,000 + $150–$300/mes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FFFFFF"/>
                </a:solidFill>
                <a:latin typeface="Poppins"/>
              </a:rPr>
              <a:t>Opción B — sin anticipo (12 m)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C8DEF0"/>
                </a:solidFill>
                <a:latin typeface="Open Sans"/>
              </a:rPr>
              <a:t>MX: $3,800–$5,500 / mes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C8DEF0"/>
                </a:solidFill>
                <a:latin typeface="Open Sans"/>
              </a:rPr>
              <a:t>USA: $180–$280 / mes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22C468"/>
                </a:solidFill>
                <a:latin typeface="Poppins"/>
              </a:rPr>
              <a:t>Modelo: suscripción / retainer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382512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4B6480"/>
                </a:solidFill>
                <a:latin typeface="Open Sans"/>
              </a:rPr>
              <a:t>Es el paquete a destacar: ingreso recurrente y relación de largo plazo. Anclado a WebyKing ($129–$899) e Integral Web ($78–$198).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457200" cy="109728"/>
          </a:xfrm>
          <a:prstGeom prst="rect">
            <a:avLst/>
          </a:prstGeom>
          <a:solidFill>
            <a:srgbClr val="22C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43891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A8EE6"/>
                </a:solidFill>
                <a:latin typeface="Poppins"/>
              </a:rPr>
              <a:t>CMS EDITABLE DRAG-AND-DROP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C1E35"/>
                </a:solidFill>
                <a:latin typeface="Poppins"/>
              </a:rPr>
              <a:t>Propuesta · Paquete 3 — WEB AUTÓNOMA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C1E35"/>
                </a:solidFill>
                <a:latin typeface="Poppins"/>
              </a:rPr>
              <a:t>Para: 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B6480"/>
                </a:solidFill>
                <a:latin typeface="Open Sans"/>
              </a:rPr>
              <a:t>clientes que quieren editar su web ellos mismos, sin depender de nadie.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6766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50" b="1">
                <a:solidFill>
                  <a:srgbClr val="22C468"/>
                </a:solidFill>
                <a:latin typeface="Poppins"/>
              </a:rPr>
              <a:t>›  </a:t>
            </a:r>
            <a:r>
              <a:rPr sz="1450">
                <a:solidFill>
                  <a:srgbClr val="4B6480"/>
                </a:solidFill>
                <a:latin typeface="Open Sans"/>
              </a:rPr>
              <a:t>Web construida en CMS editable (Webflow / WordPress+Elementor / Framer).</a:t>
            </a:r>
          </a:p>
          <a:p>
            <a:pPr>
              <a:spcAft>
                <a:spcPts val="900"/>
              </a:spcAft>
            </a:pPr>
            <a:r>
              <a:rPr sz="1450" b="1">
                <a:solidFill>
                  <a:srgbClr val="22C468"/>
                </a:solidFill>
                <a:latin typeface="Poppins"/>
              </a:rPr>
              <a:t>›  </a:t>
            </a:r>
            <a:r>
              <a:rPr sz="1450">
                <a:solidFill>
                  <a:srgbClr val="4B6480"/>
                </a:solidFill>
                <a:latin typeface="Open Sans"/>
              </a:rPr>
              <a:t>Entregada 100% autoadministrable.</a:t>
            </a:r>
          </a:p>
          <a:p>
            <a:pPr>
              <a:spcAft>
                <a:spcPts val="900"/>
              </a:spcAft>
            </a:pPr>
            <a:r>
              <a:rPr sz="1450" b="1">
                <a:solidFill>
                  <a:srgbClr val="22C468"/>
                </a:solidFill>
                <a:latin typeface="Poppins"/>
              </a:rPr>
              <a:t>›  </a:t>
            </a:r>
            <a:r>
              <a:rPr sz="1450">
                <a:solidFill>
                  <a:srgbClr val="4B6480"/>
                </a:solidFill>
                <a:latin typeface="Open Sans"/>
              </a:rPr>
              <a:t>Capacitación + video tutorial + documentación.</a:t>
            </a:r>
          </a:p>
          <a:p>
            <a:pPr>
              <a:spcAft>
                <a:spcPts val="900"/>
              </a:spcAft>
            </a:pPr>
            <a:r>
              <a:rPr sz="1450" b="1">
                <a:solidFill>
                  <a:srgbClr val="22C468"/>
                </a:solidFill>
                <a:latin typeface="Poppins"/>
              </a:rPr>
              <a:t>›  </a:t>
            </a:r>
            <a:r>
              <a:rPr sz="1450">
                <a:solidFill>
                  <a:srgbClr val="4B6480"/>
                </a:solidFill>
                <a:latin typeface="Open Sans"/>
              </a:rPr>
              <a:t>Accesos de editor y 30 días de soporte post-entrega.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2057400"/>
            <a:ext cx="3886200" cy="3383280"/>
          </a:xfrm>
          <a:prstGeom prst="rect">
            <a:avLst/>
          </a:prstGeom>
          <a:solidFill>
            <a:srgbClr val="EF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2240280"/>
            <a:ext cx="347472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A8EE6"/>
                </a:solidFill>
                <a:latin typeface="Poppins"/>
              </a:rPr>
              <a:t>PRECIO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0C1E35"/>
                </a:solidFill>
                <a:latin typeface="Poppins"/>
              </a:rPr>
              <a:t>México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4B6480"/>
                </a:solidFill>
                <a:latin typeface="Open Sans"/>
              </a:rPr>
              <a:t>$24,000 – $38,000 MXN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0C1E35"/>
                </a:solidFill>
                <a:latin typeface="Poppins"/>
              </a:rPr>
              <a:t>Estados Unidos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4B6480"/>
                </a:solidFill>
                <a:latin typeface="Open Sans"/>
              </a:rPr>
              <a:t>$3,500 – $6,000 USD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0C1E35"/>
                </a:solidFill>
                <a:latin typeface="Poppins"/>
              </a:rPr>
              <a:t>Plataforma (aparte/gestionada):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50" b="0">
                <a:solidFill>
                  <a:srgbClr val="4B6480"/>
                </a:solidFill>
                <a:latin typeface="Open Sans"/>
              </a:rPr>
              <a:t>Webflow $15–$25 · Wix $17 · Squarespace $16–$39 /mes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382512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4B6480"/>
                </a:solidFill>
                <a:latin typeface="Open Sans"/>
              </a:rPr>
              <a:t>Opción de añadir el soporte del Paquete 2. Más caro que el P1 por la capacitación y el setup del CMS editable.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457200" cy="109728"/>
          </a:xfrm>
          <a:prstGeom prst="rect">
            <a:avLst/>
          </a:prstGeom>
          <a:solidFill>
            <a:srgbClr val="22C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43891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A8EE6"/>
                </a:solidFill>
                <a:latin typeface="Poppins"/>
              </a:rPr>
              <a:t>PRECIOS PROPUESTOS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C1E35"/>
                </a:solidFill>
                <a:latin typeface="Poppins"/>
              </a:rPr>
              <a:t>Resumen de los 3 paquetes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91640"/>
          <a:ext cx="11201400" cy="3474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4640"/>
                <a:gridCol w="2743200"/>
                <a:gridCol w="2926080"/>
                <a:gridCol w="2697480"/>
              </a:tblGrid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oppins"/>
                        </a:rPr>
                        <a:t>Paquete</a:t>
                      </a:r>
                    </a:p>
                  </a:txBody>
                  <a:tcPr marL="82296" marR="64008" marT="18288" marB="18288" anchor="ctr">
                    <a:solidFill>
                      <a:srgbClr val="0C1E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oppins"/>
                        </a:rPr>
                        <a:t>Modelo</a:t>
                      </a:r>
                    </a:p>
                  </a:txBody>
                  <a:tcPr marL="82296" marR="64008" marT="18288" marB="18288" anchor="ctr">
                    <a:solidFill>
                      <a:srgbClr val="0C1E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oppins"/>
                        </a:rPr>
                        <a:t>Precio México</a:t>
                      </a:r>
                    </a:p>
                  </a:txBody>
                  <a:tcPr marL="82296" marR="64008" marT="18288" marB="18288" anchor="ctr">
                    <a:solidFill>
                      <a:srgbClr val="0C1E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oppins"/>
                        </a:rPr>
                        <a:t>Precio USA</a:t>
                      </a:r>
                    </a:p>
                  </a:txBody>
                  <a:tcPr marL="82296" marR="64008" marT="18288" marB="18288" anchor="ctr">
                    <a:solidFill>
                      <a:srgbClr val="0C1E35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1 · WEB LANZAMIENTO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Pago único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desde $18,000 MXN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desde $2,500 USD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2 · WEB + CRECIMIENTO  ★</a:t>
                      </a:r>
                    </a:p>
                  </a:txBody>
                  <a:tcPr marL="82296" marR="64008" marT="18288" marB="18288" anchor="ctr">
                    <a:solidFill>
                      <a:srgbClr val="EF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Build + mensual / suscripción</a:t>
                      </a:r>
                    </a:p>
                  </a:txBody>
                  <a:tcPr marL="82296" marR="64008" marT="18288" marB="18288" anchor="ctr">
                    <a:solidFill>
                      <a:srgbClr val="EF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desde $20,000 + $3,000–$4,500/mes  (o $3,800–$5,500/mes)</a:t>
                      </a:r>
                    </a:p>
                  </a:txBody>
                  <a:tcPr marL="82296" marR="64008" marT="18288" marB="18288" anchor="ctr">
                    <a:solidFill>
                      <a:srgbClr val="EF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desde $3,000 + $150–$300/mes  (o $180–$280/mes)</a:t>
                      </a:r>
                    </a:p>
                  </a:txBody>
                  <a:tcPr marL="82296" marR="64008" marT="18288" marB="18288" anchor="ctr">
                    <a:solidFill>
                      <a:srgbClr val="EFF6FD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3 · WEB AUTÓNOMA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Pago único + plataforma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$24,000–$38,000 MXN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C1E35"/>
                          </a:solidFill>
                          <a:latin typeface="Open Sans"/>
                        </a:rPr>
                        <a:t>$3,500–$6,000 USD</a:t>
                      </a:r>
                    </a:p>
                  </a:txBody>
                  <a:tcPr marL="82296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25780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C1E35"/>
                </a:solidFill>
                <a:latin typeface="Poppins"/>
              </a:rPr>
              <a:t>Recomendación: 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B6480"/>
                </a:solidFill>
                <a:latin typeface="Open Sans"/>
              </a:rPr>
              <a:t>liderar la venta con el Paquete 2 (ingreso recurrente), usar el Paquete 1 como entrada y el Paquete 3 como diferenciador para quien quiere autonomía.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457200" cy="109728"/>
          </a:xfrm>
          <a:prstGeom prst="rect">
            <a:avLst/>
          </a:prstGeom>
          <a:solidFill>
            <a:srgbClr val="22C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43891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A8EE6"/>
                </a:solidFill>
                <a:latin typeface="Poppins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Poppins"/>
              </a:rPr>
              <a:t>Próximos pasos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00" b="1">
                <a:solidFill>
                  <a:srgbClr val="22C468"/>
                </a:solidFill>
                <a:latin typeface="Poppins"/>
              </a:rPr>
              <a:t>›  </a:t>
            </a:r>
            <a:r>
              <a:rPr sz="1600" b="1">
                <a:solidFill>
                  <a:srgbClr val="FFFFFF"/>
                </a:solidFill>
                <a:latin typeface="Poppins"/>
              </a:rPr>
              <a:t>Validar precios y márgenes  </a:t>
            </a:r>
            <a:r>
              <a:rPr sz="1600">
                <a:solidFill>
                  <a:srgbClr val="C8DEF0"/>
                </a:solidFill>
                <a:latin typeface="Open Sans"/>
              </a:rPr>
              <a:t>contra nuestros costos reales (horas, plataforma, hosting).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22C468"/>
                </a:solidFill>
                <a:latin typeface="Poppins"/>
              </a:rPr>
              <a:t>›  </a:t>
            </a:r>
            <a:r>
              <a:rPr sz="1600" b="1">
                <a:solidFill>
                  <a:srgbClr val="FFFFFF"/>
                </a:solidFill>
                <a:latin typeface="Poppins"/>
              </a:rPr>
              <a:t>Construir la sección de Paquetes  </a:t>
            </a:r>
            <a:r>
              <a:rPr sz="1600">
                <a:solidFill>
                  <a:srgbClr val="C8DEF0"/>
                </a:solidFill>
                <a:latin typeface="Open Sans"/>
              </a:rPr>
              <a:t>en el sitio con estos 3 niveles y precios claros.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22C468"/>
                </a:solidFill>
                <a:latin typeface="Poppins"/>
              </a:rPr>
              <a:t>›  </a:t>
            </a:r>
            <a:r>
              <a:rPr sz="1600" b="1">
                <a:solidFill>
                  <a:srgbClr val="FFFFFF"/>
                </a:solidFill>
                <a:latin typeface="Poppins"/>
              </a:rPr>
              <a:t>Definir el guion de venta  </a:t>
            </a:r>
            <a:r>
              <a:rPr sz="1600">
                <a:solidFill>
                  <a:srgbClr val="C8DEF0"/>
                </a:solidFill>
                <a:latin typeface="Open Sans"/>
              </a:rPr>
              <a:t>que lleve al Paquete 2 (recurrente) como opción recomendada.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22C468"/>
                </a:solidFill>
                <a:latin typeface="Poppins"/>
              </a:rPr>
              <a:t>›  </a:t>
            </a:r>
            <a:r>
              <a:rPr sz="1600" b="1">
                <a:solidFill>
                  <a:srgbClr val="FFFFFF"/>
                </a:solidFill>
                <a:latin typeface="Poppins"/>
              </a:rPr>
              <a:t>Cargar casos/portafolio web reales  </a:t>
            </a:r>
            <a:r>
              <a:rPr sz="1600">
                <a:solidFill>
                  <a:srgbClr val="C8DEF0"/>
                </a:solidFill>
                <a:latin typeface="Open Sans"/>
              </a:rPr>
              <a:t>para respaldar el precio con prueba.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C34D"/>
                </a:solidFill>
                <a:latin typeface="Poppins"/>
              </a:rPr>
              <a:t>“Sigamos haciendo que las cosas sucedan.”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457200" cy="109728"/>
          </a:xfrm>
          <a:prstGeom prst="rect">
            <a:avLst/>
          </a:prstGeom>
          <a:solidFill>
            <a:srgbClr val="22C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43891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A8EE6"/>
                </a:solidFill>
                <a:latin typeface="Poppins"/>
              </a:rPr>
              <a:t>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C1E35"/>
                </a:solidFill>
                <a:latin typeface="Poppins"/>
              </a:rPr>
              <a:t>Fuentes consultadas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4864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A8EE6"/>
                </a:solidFill>
                <a:latin typeface="Poppins"/>
              </a:rPr>
              <a:t>Estados Unidos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4B6480"/>
                </a:solidFill>
                <a:latin typeface="Open Sans"/>
              </a:rPr>
              <a:t>webfx.com · digitalpresent.io · webyking.com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4B6480"/>
                </a:solidFill>
                <a:latin typeface="Open Sans"/>
              </a:rPr>
              <a:t>integralwebdesigns.com · webstacks.com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4B6480"/>
                </a:solidFill>
                <a:latin typeface="Open Sans"/>
              </a:rPr>
              <a:t>markbrinker.com · northwestregisteredagent.com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4B6480"/>
                </a:solidFill>
                <a:latin typeface="Open Sans"/>
              </a:rPr>
              <a:t>brandvm.com · penji.co · rubik.design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A8EE6"/>
                </a:solidFill>
                <a:latin typeface="Poppins"/>
              </a:rPr>
              <a:t>Plataformas / builders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4B6480"/>
                </a:solidFill>
                <a:latin typeface="Open Sans"/>
              </a:rPr>
              <a:t>webflow.com · squarespace.com · wix.com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4B6480"/>
                </a:solidFill>
                <a:latin typeface="Open Sans"/>
              </a:rPr>
              <a:t>framer (comparetiers.com)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3035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22C468"/>
                </a:solidFill>
                <a:latin typeface="Poppins"/>
              </a:rPr>
              <a:t>México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4B6480"/>
                </a:solidFill>
                <a:latin typeface="Open Sans"/>
              </a:rPr>
              <a:t>mexicowordpress.com · disenador-web-mexico.com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4B6480"/>
                </a:solidFill>
                <a:latin typeface="Open Sans"/>
              </a:rPr>
              <a:t>bigredes.com · magokoro.mx · listoweb.com.mx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4B6480"/>
                </a:solidFill>
                <a:latin typeface="Open Sans"/>
              </a:rPr>
              <a:t>vemipagina.com · sicomweb.com.mx · nerade.com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4B6480"/>
                </a:solidFill>
                <a:latin typeface="Open Sans"/>
              </a:rPr>
              <a:t>cronoshare.com.mx · godaddy.com (LATAM)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0C1E35"/>
                </a:solidFill>
                <a:latin typeface="Poppins"/>
              </a:rPr>
              <a:t>Nota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4B6480"/>
                </a:solidFill>
                <a:latin typeface="Open Sans"/>
              </a:rPr>
              <a:t>Precios de mercado a jun-2026; varían por alcance,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4B6480"/>
                </a:solidFill>
                <a:latin typeface="Open Sans"/>
              </a:rPr>
              <a:t>complejidad y proveedor. Rangos, no cotización fija.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